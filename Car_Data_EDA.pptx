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شريحة عنوان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ar-SA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BD58A797-1FE2-477F-B654-F63B8502C5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r" rtl="1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algn="r" rtl="1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algn="r" rtl="1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algn="r" rtl="1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algn="r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algn="r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algn="r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عنوان ونص عمودي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E29C62E9-5DD3-4E85-B515-8E1C6B36809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عنوان ونص عموديان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2FE6DEBE-5DF9-4D25-A8FB-AB4A505B5E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عنوان ومحتو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3BFA3E67-34D9-49A8-88C3-F7C54C0BA9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عنوان المقط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ar-SA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8F65C9C1-4EF8-4493-BC8B-3CD4A2FCB4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محتويين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E6CFB5FC-3A93-4F91-B62E-87830E18FE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مقارن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A1FD873E-1674-4FEF-9344-193A090622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عنوان فقط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6C55FA83-3B1B-4C52-AFF2-2093514E1C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فار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B0A8073C-4642-4C41-A83D-A56195BCEF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محتوى ذو تسمية توضيحي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الثاني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الثالث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الرابع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ar-SA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المستوى الخامس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ar-SA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59B61C95-20B4-4D65-B724-71827EB42A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صورة مع تسمية توضيحي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914400" rtl="1">
              <a:lnSpc>
                <a:spcPct val="90000"/>
              </a:lnSpc>
              <a:buNone/>
            </a:pPr>
            <a:r>
              <a:rPr b="0" lang="ar-SA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انقر لتحرير نمط العنوان الرئيسي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rtl="1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rtl="1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rtl="1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rtl="1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ar-SA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تحرير أنماط النص الرئيسي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 rtl="1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 rtl="1">
              <a:lnSpc>
                <a:spcPct val="100000"/>
              </a:lnSpc>
              <a:buNone/>
            </a:pPr>
            <a:fld id="{AC3E87CD-3062-40F1-9E6F-60F0814135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8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Car Data EDA</a:t>
            </a:r>
            <a:endParaRPr b="0" lang="en-US" sz="8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Ahmed Salah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Mohamed Ebrahem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Ahmed Ashraf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Columns contained in this data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Name: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name/model of the car.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Year: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manufacturing year of the car.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Selling Price: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price of the car.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Km Driven: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Total kilometers the car has been driven.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Fuel: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Type of car’s fuel.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Seller Type: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Who is selling the car (e.g. Dealer, Individual).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Transmission: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Type of transmission (Manual or Automatic).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Owner: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Ownership history.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 preview of the data before cleaning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عنصر نائب للمحتوى 3" descr=""/>
          <p:cNvPicPr/>
          <p:nvPr/>
        </p:nvPicPr>
        <p:blipFill>
          <a:blip r:embed="rId1"/>
          <a:stretch/>
        </p:blipFill>
        <p:spPr>
          <a:xfrm>
            <a:off x="838080" y="1094400"/>
            <a:ext cx="10515240" cy="554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-6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 preview of the data before cleaning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عنصر نائب للمحتوى 3" descr=""/>
          <p:cNvPicPr/>
          <p:nvPr/>
        </p:nvPicPr>
        <p:blipFill>
          <a:blip r:embed="rId1"/>
          <a:stretch/>
        </p:blipFill>
        <p:spPr>
          <a:xfrm>
            <a:off x="838080" y="1094400"/>
            <a:ext cx="10515240" cy="55414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8" name="رابط كسهم مستقيم 4"/>
          <p:cNvCxnSpPr/>
          <p:nvPr/>
        </p:nvCxnSpPr>
        <p:spPr>
          <a:xfrm flipV="1">
            <a:off x="4128480" y="1828440"/>
            <a:ext cx="734760" cy="679320"/>
          </a:xfrm>
          <a:prstGeom prst="straightConnector1">
            <a:avLst/>
          </a:prstGeom>
          <a:ln>
            <a:solidFill>
              <a:srgbClr val="ff0000"/>
            </a:solidFill>
            <a:tailEnd len="med" type="triangle" w="med"/>
          </a:ln>
        </p:spPr>
      </p:cxnSp>
      <p:cxnSp>
        <p:nvCxnSpPr>
          <p:cNvPr id="69" name="رابط كسهم مستقيم 6"/>
          <p:cNvCxnSpPr/>
          <p:nvPr/>
        </p:nvCxnSpPr>
        <p:spPr>
          <a:xfrm flipV="1">
            <a:off x="4253040" y="5541480"/>
            <a:ext cx="610200" cy="596160"/>
          </a:xfrm>
          <a:prstGeom prst="straightConnector1">
            <a:avLst/>
          </a:prstGeom>
          <a:ln>
            <a:solidFill>
              <a:srgbClr val="ff0000"/>
            </a:solidFill>
            <a:tailEnd len="med" type="triangle" w="med"/>
          </a:ln>
        </p:spPr>
      </p:cxnSp>
      <p:cxnSp>
        <p:nvCxnSpPr>
          <p:cNvPr id="70" name="رابط كسهم مستقيم 10"/>
          <p:cNvCxnSpPr/>
          <p:nvPr/>
        </p:nvCxnSpPr>
        <p:spPr>
          <a:xfrm flipH="1" flipV="1">
            <a:off x="8714160" y="3574440"/>
            <a:ext cx="679320" cy="900720"/>
          </a:xfrm>
          <a:prstGeom prst="straightConnector1">
            <a:avLst/>
          </a:prstGeom>
          <a:ln>
            <a:solidFill>
              <a:srgbClr val="ff0000"/>
            </a:solidFill>
            <a:tailEnd len="med" type="triangle" w="med"/>
          </a:ln>
        </p:spPr>
      </p:cxnSp>
      <p:cxnSp>
        <p:nvCxnSpPr>
          <p:cNvPr id="71" name="رابط كسهم مستقيم 12"/>
          <p:cNvCxnSpPr/>
          <p:nvPr/>
        </p:nvCxnSpPr>
        <p:spPr>
          <a:xfrm flipV="1">
            <a:off x="5458680" y="4391640"/>
            <a:ext cx="637560" cy="665280"/>
          </a:xfrm>
          <a:prstGeom prst="straightConnector1">
            <a:avLst/>
          </a:prstGeom>
          <a:ln>
            <a:solidFill>
              <a:srgbClr val="ff0000"/>
            </a:solidFill>
            <a:tailEnd len="med" type="triangle" w="med"/>
          </a:ln>
        </p:spPr>
      </p:cxnSp>
      <p:cxnSp>
        <p:nvCxnSpPr>
          <p:cNvPr id="72" name="رابط كسهم مستقيم 16"/>
          <p:cNvCxnSpPr/>
          <p:nvPr/>
        </p:nvCxnSpPr>
        <p:spPr>
          <a:xfrm flipV="1">
            <a:off x="5278320" y="2812320"/>
            <a:ext cx="817920" cy="762480"/>
          </a:xfrm>
          <a:prstGeom prst="straightConnector1">
            <a:avLst/>
          </a:prstGeom>
          <a:ln>
            <a:solidFill>
              <a:srgbClr val="ff0000"/>
            </a:solidFill>
            <a:tailEnd len="med" type="triangle" w="med"/>
          </a:ln>
        </p:spPr>
      </p:cxnSp>
      <p:cxnSp>
        <p:nvCxnSpPr>
          <p:cNvPr id="73" name="رابط كسهم مستقيم 18"/>
          <p:cNvCxnSpPr/>
          <p:nvPr/>
        </p:nvCxnSpPr>
        <p:spPr>
          <a:xfrm flipV="1">
            <a:off x="5181480" y="2618280"/>
            <a:ext cx="803880" cy="803880"/>
          </a:xfrm>
          <a:prstGeom prst="straightConnector1">
            <a:avLst/>
          </a:prstGeom>
          <a:ln>
            <a:solidFill>
              <a:srgbClr val="ff0000"/>
            </a:solidFill>
            <a:tailEnd len="med" type="triangle" w="med"/>
          </a:ln>
        </p:spPr>
      </p:cxnSp>
      <p:sp>
        <p:nvSpPr>
          <p:cNvPr id="74" name="شكل بيضاوي 22"/>
          <p:cNvSpPr/>
          <p:nvPr/>
        </p:nvSpPr>
        <p:spPr>
          <a:xfrm>
            <a:off x="8115480" y="3422160"/>
            <a:ext cx="706320" cy="228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شكل بيضاوي 24"/>
          <p:cNvSpPr/>
          <p:nvPr/>
        </p:nvSpPr>
        <p:spPr>
          <a:xfrm>
            <a:off x="5839560" y="2428560"/>
            <a:ext cx="706320" cy="228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شكل بيضاوي 25"/>
          <p:cNvSpPr/>
          <p:nvPr/>
        </p:nvSpPr>
        <p:spPr>
          <a:xfrm>
            <a:off x="5839560" y="2657160"/>
            <a:ext cx="706320" cy="228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شكل بيضاوي 26"/>
          <p:cNvSpPr/>
          <p:nvPr/>
        </p:nvSpPr>
        <p:spPr>
          <a:xfrm>
            <a:off x="5839560" y="4222080"/>
            <a:ext cx="706320" cy="228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شكل بيضاوي 27"/>
          <p:cNvSpPr/>
          <p:nvPr/>
        </p:nvSpPr>
        <p:spPr>
          <a:xfrm>
            <a:off x="4862880" y="1659240"/>
            <a:ext cx="318240" cy="228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شكل بيضاوي 28"/>
          <p:cNvSpPr/>
          <p:nvPr/>
        </p:nvSpPr>
        <p:spPr>
          <a:xfrm>
            <a:off x="4862880" y="5427360"/>
            <a:ext cx="318240" cy="228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0" name="رابط كسهم مستقيم 30"/>
          <p:cNvCxnSpPr/>
          <p:nvPr/>
        </p:nvCxnSpPr>
        <p:spPr>
          <a:xfrm flipH="1" flipV="1">
            <a:off x="6968520" y="3764880"/>
            <a:ext cx="457560" cy="4575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81" name="رابط كسهم مستقيم 32"/>
          <p:cNvCxnSpPr/>
          <p:nvPr/>
        </p:nvCxnSpPr>
        <p:spPr>
          <a:xfrm flipH="1" flipV="1">
            <a:off x="6968520" y="4599360"/>
            <a:ext cx="228960" cy="4575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82" name="شكل بيضاوي 33"/>
          <p:cNvSpPr/>
          <p:nvPr/>
        </p:nvSpPr>
        <p:spPr>
          <a:xfrm>
            <a:off x="6494400" y="3663360"/>
            <a:ext cx="525960" cy="173160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شكل بيضاوي 34"/>
          <p:cNvSpPr/>
          <p:nvPr/>
        </p:nvSpPr>
        <p:spPr>
          <a:xfrm>
            <a:off x="6494400" y="4452840"/>
            <a:ext cx="525960" cy="173160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 rtl="1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Our approach to clean the data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Standardize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all corrupted values (e.g. Petorl, Diesl).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removing all duplicated values.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Handling missing values.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Removing all outliers and invalid values.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 preview of the data after cleaning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عنصر نائب للمحتوى 3" descr=""/>
          <p:cNvPicPr/>
          <p:nvPr/>
        </p:nvPicPr>
        <p:blipFill>
          <a:blip r:embed="rId1"/>
          <a:stretch/>
        </p:blipFill>
        <p:spPr>
          <a:xfrm>
            <a:off x="838080" y="1131480"/>
            <a:ext cx="10515240" cy="531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57920" y="21614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Visualizing data </a:t>
            </a:r>
            <a:br>
              <a:rPr sz="6000"/>
            </a:b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&amp; </a:t>
            </a:r>
            <a:br>
              <a:rPr sz="6000"/>
            </a:b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Final insights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58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عنصر نائب للمحتوى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Final insights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vast majority of cars run on Petrol or Diesel.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Most vehicles are sold by Individuals.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transmission cars significantly outnumber Automatic cars.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Newer cars are sold for higher prices  ,with a sharp increase after .2012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Diesel cars generally command a higher selling price compared to Petrol cars.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First Owner cars have the highest price distribution.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Automatic cars have higher selling price range compared to Manual cars.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427040" y="19396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?</a:t>
            </a: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Any Questions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510200" y="18010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!</a:t>
            </a: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Thank you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Application>LibreOffice/25.8.3.2$Windows_X86_64 LibreOffice_project/8ca8d55c161d602844f5428fa4b58097424e324e</Application>
  <AppVersion>15.0000</AppVersion>
  <Words>159</Words>
  <Paragraphs>35</Paragraphs>
  <Company>SACC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2025-12-09T17:05:09Z</dcterms:created>
  <dc:creator>Maher</dc:creator>
  <dc:description/>
  <dc:language>en-US</dc:language>
  <cp:lastModifiedBy/>
  <dcterms:modified xsi:type="dcterms:W3CDTF">2025-12-10T18:50:01Z</dcterms:modified>
  <cp:revision>22</cp:revision>
  <dc:subject/>
  <dc:title>Car EDA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شاشة عريضة</vt:lpwstr>
  </property>
  <property fmtid="{D5CDD505-2E9C-101B-9397-08002B2CF9AE}" pid="3" name="Slides">
    <vt:i4>20</vt:i4>
  </property>
</Properties>
</file>